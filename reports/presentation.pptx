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9" r:id="rId14"/>
    <p:sldId id="270" r:id="rId15"/>
    <p:sldId id="268" r:id="rId16"/>
    <p:sldId id="271" r:id="rId17"/>
    <p:sldId id="272" r:id="rId18"/>
    <p:sldId id="273" r:id="rId19"/>
    <p:sldId id="274" r:id="rId20"/>
    <p:sldId id="275" r:id="rId21"/>
    <p:sldId id="276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66"/>
  </p:normalViewPr>
  <p:slideViewPr>
    <p:cSldViewPr snapToGrid="0">
      <p:cViewPr varScale="1">
        <p:scale>
          <a:sx n="78" d="100"/>
          <a:sy n="78" d="100"/>
        </p:scale>
        <p:origin x="77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09682-F472-D244-3B4B-6E29AE168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51B2EA-5EF6-1FA7-83C5-658ABCD612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CE25E-CABD-1C28-DAA0-06D001F01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2A12-EB3C-1840-BF27-21AC6119D89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7D334-2685-F1DA-4DA3-679EF12B8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DF2F6-AA4D-F59B-EE61-2BCCB1E32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96652-D2DE-BF4D-8942-FB9FE9E04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936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A9F0F-8BE8-BCAF-103E-D6A42E09C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1E481-2630-F748-E56B-0440CBD56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D9DC9-B689-A7E3-043D-06D664C6B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2A12-EB3C-1840-BF27-21AC6119D89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91624-490A-2BB5-20A0-A6341ABD4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292F5-F6E3-AC6D-15D0-A6B0CA019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96652-D2DE-BF4D-8942-FB9FE9E04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276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380DA-43F8-D38B-E6C3-E1F011BD5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A2CA9B-B285-AEF8-B1AE-BE3535D1D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E7DC3-A20C-8EC9-7EF0-EE3031C62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2A12-EB3C-1840-BF27-21AC6119D89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FBAA7-E8F4-46DD-9409-FB4F03F34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D2DF4-7B7F-AB77-F54D-0208DE480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96652-D2DE-BF4D-8942-FB9FE9E04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878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CD3B4-E216-044F-95C6-5DAC1B242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05DC9-EEFD-31AC-505F-D35FA98A4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9E1ADB-E320-F906-DA31-6836576DDF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47FD4C-31A2-EB4A-FFF8-34D1CA59F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2A12-EB3C-1840-BF27-21AC6119D89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B6203-96D2-158D-5BFB-81345B82B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F2D6A7-EF26-AA49-7A66-D97756A32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96652-D2DE-BF4D-8942-FB9FE9E04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753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2E379-1FAE-520F-A954-AE2734E98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7726A-BF18-5E26-BFD6-28906A3B0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1B29F4-C3B1-5286-AFDD-E15FA57E2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196716-6F80-9376-00F7-50C2BA3A2E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ED161A-D8AA-BE7B-B52C-822FDC1DC0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3E50D1-E8FE-E0E3-FB5C-DD774DE2A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2A12-EB3C-1840-BF27-21AC6119D89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8AB0DF-6006-A826-FF40-F898426FD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B7BB0C-FA68-3F7A-FB34-3DFA9AB8A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96652-D2DE-BF4D-8942-FB9FE9E04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997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2044D-64BF-CB10-EFA3-C361FAFA8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0085A4-A62F-8D50-2FCD-9B6F6C842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2A12-EB3C-1840-BF27-21AC6119D89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9117F-E176-3D40-6CE6-8EFC804E7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C2763E-1B91-8ADF-5EBC-829FA8155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96652-D2DE-BF4D-8942-FB9FE9E04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93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F9947D-3D84-9DEC-4FEE-7A2FDCB40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2A12-EB3C-1840-BF27-21AC6119D89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490B7F-7615-D848-EBE2-BDA62F94B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10B2B-23BE-C824-ECF2-D80F784E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96652-D2DE-BF4D-8942-FB9FE9E04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374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0D3A3-1EA9-61C1-2D99-E4A4D2001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0264E-3F26-8223-5823-916AF57C5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F3FC53-94B7-D25B-1007-9419B568C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296B48-2F08-93C1-1906-05BBCE6E9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2A12-EB3C-1840-BF27-21AC6119D89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48638C-17C4-81A3-C38A-563D114C5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F64903-EBE9-369C-D309-276723307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96652-D2DE-BF4D-8942-FB9FE9E04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464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784BD-5F43-DE52-DC88-3E872B51F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455C7-C054-37A4-2CE8-C40B1360B2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81F610-79F4-6D12-66AF-39EBE2D590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9596F9-E75E-6600-47BC-021C2644E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2A12-EB3C-1840-BF27-21AC6119D89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0DC1EB-3A2E-A6F4-97FD-4B5CD8148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8A7D1C-2A13-1767-9E33-A6BAF1755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96652-D2DE-BF4D-8942-FB9FE9E04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589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3230F-A254-52E7-C471-D01232842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2D114C-DE30-E3AD-80D4-73508C431A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68CED-2715-0911-FEF1-3CB6B4EED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2A12-EB3C-1840-BF27-21AC6119D89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F84DB-E4D5-0900-4B41-3D8E0FD26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790D1-BCAB-CC4E-419B-C3E9379A4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96652-D2DE-BF4D-8942-FB9FE9E04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73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022776-34D0-7EB8-5955-B812014890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99312E-AE90-EF8F-4D57-79B419B7F6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0E803-D26A-DB79-9606-DED509274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2A12-EB3C-1840-BF27-21AC6119D89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8C1C3-E48B-EC68-418B-BE2FA1A62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3C25A-44EA-3846-7DD6-56C8CC10B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96652-D2DE-BF4D-8942-FB9FE9E04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203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345057-B5C3-2A30-A5AE-148B14935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F5C64D-4D7F-E1C0-87DC-4A8104274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0BA5C-DF52-4826-99E8-246E40228F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F02A12-EB3C-1840-BF27-21AC6119D89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96913-69E6-257F-AABC-E333715684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37F46-F1AD-3A4A-99F2-0965B4C304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B96652-D2DE-BF4D-8942-FB9FE9E04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565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C4CB0-6964-F716-6FF9-6CF93FEFF9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5085" y="245542"/>
            <a:ext cx="9144000" cy="2387600"/>
          </a:xfrm>
        </p:spPr>
        <p:txBody>
          <a:bodyPr>
            <a:normAutofit/>
          </a:bodyPr>
          <a:lstStyle/>
          <a:p>
            <a:r>
              <a:rPr lang="en-GB" b="1" i="0" dirty="0">
                <a:effectLst/>
                <a:latin typeface="-apple-system"/>
              </a:rPr>
              <a:t>Machine learning project 2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5459D9-BAE1-9C25-2327-367B263DBB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1293" y="6131011"/>
            <a:ext cx="9144000" cy="481447"/>
          </a:xfrm>
        </p:spPr>
        <p:txBody>
          <a:bodyPr/>
          <a:lstStyle/>
          <a:p>
            <a:r>
              <a:rPr lang="en-US" dirty="0"/>
              <a:t>Written by: Ahmed Haytham, Anthony Shady, Amir Bassem, Yassin Amr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B1A169-6495-40ED-A0A8-AA1532E8F4A9}"/>
              </a:ext>
            </a:extLst>
          </p:cNvPr>
          <p:cNvSpPr txBox="1"/>
          <p:nvPr/>
        </p:nvSpPr>
        <p:spPr>
          <a:xfrm>
            <a:off x="2233808" y="3163875"/>
            <a:ext cx="85552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Our goal is to </a:t>
            </a:r>
            <a:r>
              <a:rPr lang="en-GB" sz="2400" dirty="0">
                <a:solidFill>
                  <a:srgbClr val="000000"/>
                </a:solidFill>
                <a:latin typeface="-webkit-standard"/>
              </a:rPr>
              <a:t>d</a:t>
            </a:r>
            <a:r>
              <a:rPr lang="en-GB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etect fraudulent Medicare providers using real claims data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49465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80423-BB7E-98AD-4282-6BB4C1D78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52599"/>
            <a:ext cx="10515600" cy="1325563"/>
          </a:xfrm>
        </p:spPr>
        <p:txBody>
          <a:bodyPr/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Dataset Overview</a:t>
            </a:r>
            <a:br>
              <a:rPr lang="en-GB" b="1" i="0" dirty="0">
                <a:solidFill>
                  <a:srgbClr val="CCCCCC"/>
                </a:solidFill>
                <a:effectLst/>
                <a:latin typeface="-apple-system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8DCAF-42AB-1150-744F-04853EA86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9606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4 datasets: Beneficiary, Inpatient Claims, Outpatient Claims, Fraud Labels</a:t>
            </a:r>
          </a:p>
          <a:p>
            <a:pPr>
              <a:lnSpc>
                <a:spcPct val="150000"/>
              </a:lnSpc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558K+ claims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linked to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5,410 providers</a:t>
            </a:r>
            <a:endParaRPr lang="en-GB" dirty="0">
              <a:solidFill>
                <a:srgbClr val="000000"/>
              </a:solidFill>
              <a:latin typeface="-webkit-standard"/>
            </a:endParaRPr>
          </a:p>
          <a:p>
            <a:pPr>
              <a:lnSpc>
                <a:spcPct val="150000"/>
              </a:lnSpc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138K+ beneficiaries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across inpatient &amp; outpatient data</a:t>
            </a:r>
          </a:p>
          <a:p>
            <a:pPr>
              <a:lnSpc>
                <a:spcPct val="150000"/>
              </a:lnSpc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Providers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labeled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as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Fraud / Not Fraud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585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E4055-E7F0-9D47-6C3D-3522ABBE3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Data Challenges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8971F-6862-C37A-48BB-36E9800F5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High missing rates in diagnosis &amp; procedure codes (&gt;80%)</a:t>
            </a:r>
          </a:p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Missing or incomplete physician identifiers</a:t>
            </a:r>
            <a:endParaRPr lang="en-GB" dirty="0">
              <a:solidFill>
                <a:srgbClr val="000000"/>
              </a:solidFill>
              <a:latin typeface="-webkit-standard"/>
            </a:endParaRPr>
          </a:p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Inconsistent date fields (admission, discharge, death dates)</a:t>
            </a:r>
          </a:p>
          <a:p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Strategy used: Remove unusable columns, create presence indicators, clean date fields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554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8A13E-6DFA-3FEF-8E64-AB85DD06C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EDA: Class Distribution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917AC-DE10-AD46-B077-2353FBD6E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43043"/>
          </a:xfrm>
        </p:spPr>
        <p:txBody>
          <a:bodyPr/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Fraudulent providers =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~9%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16F3A0-BFE2-B2D0-0F77-D3FD5CEFD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9709" y="2553434"/>
            <a:ext cx="4923512" cy="348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580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063DC-9FCE-FA99-4456-F6DE61080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EDA: Financial Patterns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70471-A988-20E4-4F8C-6751D3C97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 fontScale="92500" lnSpcReduction="20000"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Fraudulent providers tend to show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higher reimbursement amounts</a:t>
            </a:r>
          </a:p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Strong financial outliers identified using IQR</a:t>
            </a:r>
          </a:p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Inpatient claims generally more expensive than outpatient</a:t>
            </a:r>
          </a:p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Insight: Financial features are strong predictors</a:t>
            </a:r>
            <a:endParaRPr lang="en-GB" dirty="0">
              <a:solidFill>
                <a:srgbClr val="000000"/>
              </a:solidFill>
              <a:latin typeface="-webkit-standard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496283-E2FF-B85A-3C89-53D41B05E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2"/>
          <a:stretch/>
        </p:blipFill>
        <p:spPr>
          <a:xfrm>
            <a:off x="1189972" y="3628279"/>
            <a:ext cx="7746217" cy="2864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12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7AC1E-85A2-505B-6E64-6E3022B40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EDA: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Behavioral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&amp; Demographic Patterns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23537-A60D-312B-B7A7-FC982C739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1414"/>
            <a:ext cx="10515600" cy="2182704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Fraud varies across states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Beneficiary demographics (age, gender, chronic conditions)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</a:rPr>
              <a:t>analyzed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Frequent diagnosis &amp; procedure codes examined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Helps identify anomalies in provider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</a:rPr>
              <a:t>behavior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267300-C59D-A9B5-2A71-AAD17BCE0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76" y="3774118"/>
            <a:ext cx="5136715" cy="22161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DEBC85-4120-16FD-7B7A-201D3ADE67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5887233" y="3601481"/>
            <a:ext cx="6055291" cy="279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166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0EFA8-B559-4BFA-DCDB-D21A1AD3B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Feature Engineering Strategy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761E8-11A7-A874-92C1-DFC1B1CBE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21115"/>
          </a:xfrm>
        </p:spPr>
        <p:txBody>
          <a:bodyPr/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Aggregation by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Provider</a:t>
            </a:r>
          </a:p>
          <a:p>
            <a:pPr algn="l"/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Three feature groups created: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Volume metrics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(total claims, unique patients, unique physicians)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Financial metrics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(sum/mean/std of reimbursements)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Health metrics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(chronic condition prevalence)</a:t>
            </a:r>
          </a:p>
          <a:p>
            <a:pPr algn="l"/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733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F4F7-04C1-91E6-913C-0446FC03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Correlation &amp; Insights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90626-6AF6-3BA9-981D-3120D3BBF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10414" cy="4274550"/>
          </a:xfrm>
        </p:spPr>
        <p:txBody>
          <a:bodyPr/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Correlation heatmap generated for all engineered features</a:t>
            </a:r>
          </a:p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Financial metrics show the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strongest correlations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with Fraud</a:t>
            </a:r>
          </a:p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Chronic conditions and volume metrics show moderate contributions</a:t>
            </a:r>
            <a:endParaRPr lang="en-GB" dirty="0">
              <a:solidFill>
                <a:srgbClr val="000000"/>
              </a:solidFill>
              <a:latin typeface="-webkit-standard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689A04-3B08-D98D-B25B-D5B8BC024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760" y="1379244"/>
            <a:ext cx="5668679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990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F2832-BC2C-7E68-70C6-1155A14CD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7F20F-0ED5-6164-1C06-546C9A04C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Class Imbalance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712CC-3110-7B8B-0763-0366036EC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9483"/>
            <a:ext cx="10515600" cy="4063898"/>
          </a:xfrm>
        </p:spPr>
        <p:txBody>
          <a:bodyPr>
            <a:normAutofit/>
          </a:bodyPr>
          <a:lstStyle/>
          <a:p>
            <a:r>
              <a:rPr lang="en-US" dirty="0"/>
              <a:t>A major problem we faced was that the data was clearly imbalanced (9% are fraudulent).</a:t>
            </a:r>
            <a:endParaRPr lang="en-GB" b="1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en-US" dirty="0"/>
              <a:t>To address this, we decided to use </a:t>
            </a:r>
            <a:r>
              <a:rPr lang="en-US" b="1" dirty="0"/>
              <a:t>class weighting</a:t>
            </a:r>
            <a:r>
              <a:rPr lang="en-US" dirty="0"/>
              <a:t> as it 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Works perfectly well with </a:t>
            </a:r>
            <a:r>
              <a:rPr lang="en-US" b="1" dirty="0"/>
              <a:t>tree-based models</a:t>
            </a:r>
            <a:r>
              <a:rPr lang="en-US" dirty="0"/>
              <a:t> that have built-in weighting parameters (</a:t>
            </a:r>
            <a:r>
              <a:rPr lang="en-US" i="1" dirty="0" err="1"/>
              <a:t>scale_pos_weight</a:t>
            </a:r>
            <a:r>
              <a:rPr lang="en-US" dirty="0"/>
              <a:t>).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b="1" dirty="0"/>
              <a:t>Preserves data distribution</a:t>
            </a:r>
            <a:r>
              <a:rPr lang="en-US" dirty="0"/>
              <a:t> unlike </a:t>
            </a:r>
            <a:r>
              <a:rPr lang="en-US" dirty="0" err="1"/>
              <a:t>undersampling</a:t>
            </a:r>
            <a:r>
              <a:rPr lang="en-US" dirty="0"/>
              <a:t>.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Reduces overfitting</a:t>
            </a:r>
            <a:r>
              <a:rPr lang="en-US" dirty="0"/>
              <a:t> unlike oversampling (SMOTE) that could memorize synthetic fraud patterns.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69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F013A-7286-192A-3017-4F4AF3492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Imbalance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3E18DB-8519-D95A-04CA-21DC74953A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4908" y="1699109"/>
            <a:ext cx="9987149" cy="28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346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355A5-6B89-4B00-779E-41B508112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4DF9B-10BE-07C6-94BB-C84C298F3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We experimented with five algorithm families to capture different data relationships: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Logistic Regression (LR</a:t>
            </a:r>
            <a:r>
              <a:rPr lang="en-US" dirty="0"/>
              <a:t>)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Random Forest (RF)</a:t>
            </a:r>
            <a:endParaRPr lang="en-US" dirty="0"/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Decision Tree (DT)</a:t>
            </a:r>
            <a:endParaRPr lang="en-US" dirty="0"/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Support Vector Machine (SVM)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XGBoost</a:t>
            </a:r>
            <a:endParaRPr lang="en-US" b="1" dirty="0"/>
          </a:p>
          <a:p>
            <a:r>
              <a:rPr lang="en-US" dirty="0"/>
              <a:t>We first trained all models with default parameters (incorporating class weights).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344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4B192-DC58-F690-EF6A-981BB590E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1EDE4D-0143-8475-3DC5-E0BE36B4AE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85888"/>
            <a:ext cx="5346290" cy="19583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EF1314-A452-8D0F-CA79-B8B6D76A5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0105" y="1524232"/>
            <a:ext cx="4554811" cy="18199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DD1F48-1893-AC2E-8AF2-66401F818E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510665"/>
            <a:ext cx="4402394" cy="32521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FF46A07-4493-0D9D-3BA4-ADCC32A4EB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7736" y="3429000"/>
            <a:ext cx="3930264" cy="327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876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600B2-24B6-B92E-C1EF-C1AE44DA1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A6EC3-1D74-9A4D-2489-E4298E90F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62763-74C7-F9BB-467E-09C47B886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Based on the previous metrics, we suggest two models to be used according to the business need.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We suggest using </a:t>
            </a:r>
            <a:r>
              <a:rPr lang="en-US" dirty="0" err="1"/>
              <a:t>XGBoost</a:t>
            </a:r>
            <a:r>
              <a:rPr lang="en-US" dirty="0"/>
              <a:t> as a primary model if a balance between is the metrics is needed:</a:t>
            </a:r>
          </a:p>
          <a:p>
            <a:pPr lvl="1"/>
            <a:r>
              <a:rPr lang="en-US" dirty="0"/>
              <a:t>Highest F1-score (0.6238), providing most reliable balance across all metrics.</a:t>
            </a:r>
          </a:p>
          <a:p>
            <a:pPr lvl="1"/>
            <a:r>
              <a:rPr lang="en-US" dirty="0"/>
              <a:t>Highly robust to class imbalance which is found in fraud detection(10% only are fraud)</a:t>
            </a:r>
          </a:p>
          <a:p>
            <a:pPr lvl="1"/>
            <a:r>
              <a:rPr lang="en-US" dirty="0"/>
              <a:t> Suitable for mixed-data scenarios by encoding (already done in preprocessing).</a:t>
            </a:r>
          </a:p>
          <a:p>
            <a:pPr lvl="1"/>
            <a:r>
              <a:rPr lang="en-US" dirty="0"/>
              <a:t> Explainable and interpretable using SHAP values.</a:t>
            </a:r>
          </a:p>
          <a:p>
            <a:pPr lvl="1"/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62899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EA3E2-E3C1-26D7-D7F0-D0749612D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5B89C-1C86-8A5E-27CE-0DEAB9B38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C9EEC-E2F0-3C83-E4BC-C2D165DB4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2.  We suggest using Logistic Regression as a secondary model the priority is catching as many fraudulent cases as possible:</a:t>
            </a:r>
          </a:p>
          <a:p>
            <a:pPr lvl="1"/>
            <a:r>
              <a:rPr lang="en-US" dirty="0"/>
              <a:t>Strong recall performance (0.8416), second only to SVM . </a:t>
            </a:r>
          </a:p>
          <a:p>
            <a:pPr lvl="1"/>
            <a:r>
              <a:rPr lang="en-US" dirty="0"/>
              <a:t> Highest PRAUC (0.7342, so much higher than SVM), especially relevant for imbalanced data  </a:t>
            </a:r>
          </a:p>
          <a:p>
            <a:pPr lvl="1"/>
            <a:r>
              <a:rPr lang="en-US" dirty="0"/>
              <a:t> Extremely interpretable and easy to explain to business stakeholders  </a:t>
            </a:r>
          </a:p>
          <a:p>
            <a:pPr lvl="1"/>
            <a:r>
              <a:rPr lang="en-US" dirty="0"/>
              <a:t> Fastest to train and deploy</a:t>
            </a:r>
          </a:p>
        </p:txBody>
      </p:sp>
    </p:spTree>
    <p:extLst>
      <p:ext uri="{BB962C8B-B14F-4D97-AF65-F5344CB8AC3E}">
        <p14:creationId xmlns:p14="http://schemas.microsoft.com/office/powerpoint/2010/main" val="2118136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F7278-C0A4-C611-1C83-928A4E6CE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C5D58-15A5-A7DE-C66F-B84CE7A87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implemented a two-phase tuning strategy to first explore the parameter space and then validate the findings using robust cross-validation.</a:t>
            </a:r>
          </a:p>
          <a:p>
            <a:r>
              <a:rPr lang="en-US" b="1" dirty="0"/>
              <a:t>Phase 1</a:t>
            </a:r>
            <a:r>
              <a:rPr lang="en-US" dirty="0"/>
              <a:t>: Using fixed hold-out test set (End of Modeling Notebook):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259301-C665-2F16-F91B-68E1DC4E2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05530"/>
            <a:ext cx="5086547" cy="15137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68955F-20CA-E197-A1EA-1DAAF9D13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522" y="5319251"/>
            <a:ext cx="9485672" cy="138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406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A2FA8-BCDE-C1EF-FDCA-85A648D0E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2FC77-827A-1BC4-3CF1-DC5C5AF19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tuning the hyperparameters for the chosen models (</a:t>
            </a:r>
            <a:r>
              <a:rPr lang="en-US" b="1" dirty="0" err="1"/>
              <a:t>XGBoost</a:t>
            </a:r>
            <a:r>
              <a:rPr lang="en-US" dirty="0"/>
              <a:t>: </a:t>
            </a:r>
            <a:r>
              <a:rPr lang="en-US" i="1" dirty="0"/>
              <a:t>[</a:t>
            </a:r>
            <a:r>
              <a:rPr lang="en-US" i="1" dirty="0" err="1"/>
              <a:t>n_estimators</a:t>
            </a:r>
            <a:r>
              <a:rPr lang="en-US" i="1" dirty="0"/>
              <a:t>=300, </a:t>
            </a:r>
            <a:r>
              <a:rPr lang="en-US" i="1" dirty="0" err="1"/>
              <a:t>max_depth</a:t>
            </a:r>
            <a:r>
              <a:rPr lang="en-US" i="1" dirty="0"/>
              <a:t>=7, </a:t>
            </a:r>
            <a:r>
              <a:rPr lang="en-US" i="1" dirty="0" err="1"/>
              <a:t>learning_rate</a:t>
            </a:r>
            <a:r>
              <a:rPr lang="en-US" i="1" dirty="0"/>
              <a:t>=0.2]</a:t>
            </a:r>
            <a:r>
              <a:rPr lang="en-US" dirty="0"/>
              <a:t>, </a:t>
            </a:r>
            <a:r>
              <a:rPr lang="en-US" b="1" dirty="0"/>
              <a:t>Logistic Regression</a:t>
            </a:r>
            <a:r>
              <a:rPr lang="en-US" dirty="0"/>
              <a:t>: </a:t>
            </a:r>
            <a:r>
              <a:rPr lang="en-US" i="1" dirty="0"/>
              <a:t>[C=10, penalty=l2, solver=</a:t>
            </a:r>
            <a:r>
              <a:rPr lang="en-US" i="1" dirty="0" err="1"/>
              <a:t>liblinear</a:t>
            </a:r>
            <a:r>
              <a:rPr lang="en-US" i="1" dirty="0"/>
              <a:t>]</a:t>
            </a:r>
            <a:r>
              <a:rPr lang="en-US" dirty="0"/>
              <a:t>):</a:t>
            </a:r>
          </a:p>
          <a:p>
            <a:pPr lvl="1"/>
            <a:r>
              <a:rPr lang="en-US" dirty="0" err="1"/>
              <a:t>XGBoost</a:t>
            </a:r>
            <a:r>
              <a:rPr lang="en-US" dirty="0"/>
              <a:t>: The F1-score increased to 0.6354, making it the highest among the four models.</a:t>
            </a:r>
          </a:p>
          <a:p>
            <a:pPr lvl="1"/>
            <a:r>
              <a:rPr lang="en-US" dirty="0"/>
              <a:t>Logistic Regression: The recall improved to 0.8515, which is the highest among the four models.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2DA1F2-FE86-1922-134A-003E11FDB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216" y="4305054"/>
            <a:ext cx="6071777" cy="200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8459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DCB91-F220-6794-200F-38A984240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D1B50-E628-EA39-9A32-E7D105D5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4170C-1108-0849-51C0-63266770F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Phase 2</a:t>
            </a:r>
            <a:r>
              <a:rPr lang="en-US" dirty="0"/>
              <a:t>: Using 5-Fold Stratified Cross-Validation (Beginning of Evaluation Notebook):</a:t>
            </a:r>
          </a:p>
          <a:p>
            <a:r>
              <a:rPr lang="en-US" dirty="0"/>
              <a:t>After tuning the hyperparameters for the chosen models (</a:t>
            </a:r>
            <a:r>
              <a:rPr lang="en-US" b="1" dirty="0" err="1"/>
              <a:t>XGBoost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i="1" dirty="0"/>
              <a:t>[</a:t>
            </a:r>
            <a:r>
              <a:rPr lang="en-US" i="1" dirty="0" err="1"/>
              <a:t>learning_rate</a:t>
            </a:r>
            <a:r>
              <a:rPr lang="en-US" i="1" dirty="0"/>
              <a:t>': 0.1, '</a:t>
            </a:r>
            <a:r>
              <a:rPr lang="en-US" i="1" dirty="0" err="1"/>
              <a:t>max_depth</a:t>
            </a:r>
            <a:r>
              <a:rPr lang="en-US" i="1" dirty="0"/>
              <a:t>': 5, '</a:t>
            </a:r>
            <a:r>
              <a:rPr lang="en-US" i="1" dirty="0" err="1"/>
              <a:t>n_estimators</a:t>
            </a:r>
            <a:r>
              <a:rPr lang="en-US" i="1" dirty="0"/>
              <a:t>': 100.0], </a:t>
            </a:r>
            <a:r>
              <a:rPr lang="en-US" b="1" dirty="0"/>
              <a:t>Logistic Regression:</a:t>
            </a:r>
            <a:r>
              <a:rPr lang="en-US" dirty="0"/>
              <a:t> </a:t>
            </a:r>
            <a:r>
              <a:rPr lang="en-US" i="1" dirty="0"/>
              <a:t>[C': 0.01, 'penalty': 'l2', 'solver': '</a:t>
            </a:r>
            <a:r>
              <a:rPr lang="en-US" i="1" dirty="0" err="1"/>
              <a:t>liblinear</a:t>
            </a:r>
            <a:r>
              <a:rPr lang="en-US" i="1" dirty="0"/>
              <a:t>’]):</a:t>
            </a:r>
          </a:p>
          <a:p>
            <a:pPr lvl="1"/>
            <a:r>
              <a:rPr lang="en-US" dirty="0" err="1"/>
              <a:t>XGBoost</a:t>
            </a:r>
            <a:r>
              <a:rPr lang="en-US" dirty="0"/>
              <a:t>: The model's recall improved to </a:t>
            </a:r>
            <a:r>
              <a:rPr lang="en-US" b="1" dirty="0"/>
              <a:t>0.71</a:t>
            </a:r>
            <a:r>
              <a:rPr lang="en-US" dirty="0"/>
              <a:t>, indicating better sensitivity to fraud, despite a small drop in the raw F1-score (</a:t>
            </a:r>
            <a:r>
              <a:rPr lang="en-US" b="1" dirty="0"/>
              <a:t>~0.595</a:t>
            </a:r>
            <a:r>
              <a:rPr lang="en-US" dirty="0"/>
              <a:t>) compared to Phase 1.</a:t>
            </a:r>
          </a:p>
          <a:p>
            <a:pPr lvl="1"/>
            <a:r>
              <a:rPr lang="en-US" dirty="0"/>
              <a:t>Logistic Regression: The tuning maintained the core strength of high recall (</a:t>
            </a:r>
            <a:r>
              <a:rPr lang="en-US" b="1" dirty="0"/>
              <a:t>0.83</a:t>
            </a:r>
            <a:r>
              <a:rPr lang="en-US" dirty="0"/>
              <a:t>), confirming its role as the secondary, high-sensitivity model.</a:t>
            </a:r>
            <a:endParaRPr lang="en-US" i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C6A9A0-55EB-7690-E0B9-C435A3468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53" y="5698856"/>
            <a:ext cx="7261097" cy="79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725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3DA3F-F64E-A07F-0AFE-704EA7D0C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6751344-E8D5-8A93-54CF-7C603B2D23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90645" y="2414572"/>
            <a:ext cx="6401355" cy="41913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BFCEA0-F3A4-E01C-7321-449292009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90" y="2557603"/>
            <a:ext cx="6195597" cy="41151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E1A8AC0-A7B4-57CF-80D1-3615886E07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418026"/>
            <a:ext cx="5799323" cy="9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1357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79453-30B7-7482-E126-6249FE9E8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5B1C2-9568-E8D9-D96F-1DA33EFDB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False Positives (Legit flagged as Fraud):</a:t>
            </a:r>
            <a:endParaRPr lang="en-US" dirty="0"/>
          </a:p>
          <a:p>
            <a:pPr lvl="0"/>
            <a:r>
              <a:rPr lang="en-US" b="1" dirty="0"/>
              <a:t>Characteristics:</a:t>
            </a:r>
            <a:r>
              <a:rPr lang="en-US" dirty="0"/>
              <a:t> These providers often had very high </a:t>
            </a:r>
            <a:r>
              <a:rPr lang="en-US" dirty="0" err="1"/>
              <a:t>InscClaimAmtReimbursed_sum</a:t>
            </a:r>
            <a:r>
              <a:rPr lang="en-US" dirty="0"/>
              <a:t> (e.g., $460,400) and </a:t>
            </a:r>
            <a:r>
              <a:rPr lang="en-US" dirty="0" err="1"/>
              <a:t>DeductibleAmtPaid_sum</a:t>
            </a:r>
            <a:r>
              <a:rPr lang="en-US" dirty="0"/>
              <a:t>.</a:t>
            </a:r>
          </a:p>
          <a:p>
            <a:pPr lvl="0"/>
            <a:r>
              <a:rPr lang="en-US" b="1" dirty="0"/>
              <a:t>Insight:</a:t>
            </a:r>
            <a:r>
              <a:rPr lang="en-US" dirty="0"/>
              <a:t> The model conflates "High Volume/High Cost" with "Fraud". Large, legitimate hospitals are at risk of being flagged.</a:t>
            </a:r>
          </a:p>
          <a:p>
            <a:r>
              <a:rPr lang="en-US" b="1" dirty="0"/>
              <a:t>Mitigation Strategy:</a:t>
            </a:r>
            <a:r>
              <a:rPr lang="en-US" dirty="0"/>
              <a:t> </a:t>
            </a:r>
            <a:r>
              <a:rPr lang="en-US" b="1" dirty="0"/>
              <a:t>Normalize by provider scale</a:t>
            </a:r>
            <a:br>
              <a:rPr lang="en-US" dirty="0"/>
            </a:br>
            <a:r>
              <a:rPr lang="en-US" dirty="0"/>
              <a:t>Add per-beneficiary and per-physician ratios (e.g., </a:t>
            </a:r>
            <a:r>
              <a:rPr lang="en-US" dirty="0" err="1"/>
              <a:t>reimbursed_sum</a:t>
            </a:r>
            <a:r>
              <a:rPr lang="en-US" dirty="0"/>
              <a:t> / </a:t>
            </a:r>
            <a:r>
              <a:rPr lang="en-US" dirty="0" err="1"/>
              <a:t>unique_beneficiaries</a:t>
            </a:r>
            <a:r>
              <a:rPr lang="en-US" dirty="0"/>
              <a:t>). This prevents large legitimate providers from being flagged simply for high totals.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6631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43DB8-5109-A8B4-57C6-D676093B3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F9E62-039A-8789-C66D-860DA2BDF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04AD4-0E0F-F738-77FF-B77F6EC04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False Negatives (Fraud flagged as Legit):</a:t>
            </a:r>
            <a:endParaRPr lang="en-US" dirty="0"/>
          </a:p>
          <a:p>
            <a:pPr lvl="0"/>
            <a:r>
              <a:rPr lang="en-US" b="1" dirty="0"/>
              <a:t>Characteristics:</a:t>
            </a:r>
            <a:r>
              <a:rPr lang="en-US" dirty="0"/>
              <a:t> many samples showed high total reimbursements ($255090), large numbers of unique beneficiaries, and high deductible sums ($32150), yet their per-claim statistics and chronic-condition ratios were often mid-range (not extreme).</a:t>
            </a:r>
          </a:p>
          <a:p>
            <a:pPr lvl="0"/>
            <a:r>
              <a:rPr lang="en-US" dirty="0"/>
              <a:t> </a:t>
            </a:r>
            <a:r>
              <a:rPr lang="en-US" b="1" dirty="0"/>
              <a:t>Insight:</a:t>
            </a:r>
            <a:r>
              <a:rPr lang="en-US" dirty="0"/>
              <a:t> These fraudulent providers look like high-volume, legitimate providers — large totals but without clear, extreme outlier signatures in medical conditions — so the model treats them as normal.</a:t>
            </a:r>
          </a:p>
          <a:p>
            <a:r>
              <a:rPr lang="en-US" b="1" dirty="0"/>
              <a:t>Mitigation Strategy:</a:t>
            </a:r>
            <a:r>
              <a:rPr lang="en-US" dirty="0"/>
              <a:t> </a:t>
            </a:r>
            <a:r>
              <a:rPr lang="en-US" b="1" dirty="0"/>
              <a:t>Add temporal and trend features</a:t>
            </a:r>
            <a:br>
              <a:rPr lang="en-US" dirty="0"/>
            </a:br>
            <a:r>
              <a:rPr lang="en-US" dirty="0"/>
              <a:t>Compute spikes, rolling averages, or month-over-month deltas.</a:t>
            </a:r>
            <a:br>
              <a:rPr lang="en-US" dirty="0"/>
            </a:br>
            <a:r>
              <a:rPr lang="en-US" dirty="0"/>
              <a:t>Fraud often appears as sudden changes rather than continuously high values.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9043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0EEBF-6E1E-8FEB-FE8A-BD33E5D2F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3E7A6-016B-1F8F-E198-E1CDFCFB0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thorough data preprocessing, validation and evaluation, we propose two models based on the need for balance or catching most fraudulent cases: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XGBoost</a:t>
            </a:r>
            <a:r>
              <a:rPr lang="en-US" b="1" dirty="0"/>
              <a:t>: </a:t>
            </a:r>
            <a:r>
              <a:rPr lang="en-US" dirty="0"/>
              <a:t>For</a:t>
            </a:r>
            <a:r>
              <a:rPr lang="en-US" b="1" dirty="0"/>
              <a:t> </a:t>
            </a:r>
            <a:r>
              <a:rPr lang="en-US" dirty="0"/>
              <a:t>a fraud detection task where both precision and recall matter, </a:t>
            </a:r>
            <a:r>
              <a:rPr lang="en-US" dirty="0" err="1"/>
              <a:t>XGBoost</a:t>
            </a:r>
            <a:r>
              <a:rPr lang="en-US" dirty="0"/>
              <a:t> provides the most reliable balance.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Logistic Regression: </a:t>
            </a:r>
            <a:r>
              <a:rPr lang="en-US" dirty="0"/>
              <a:t>Even though its F1-score is lower than </a:t>
            </a:r>
            <a:r>
              <a:rPr lang="en-US" dirty="0" err="1"/>
              <a:t>XGBoost</a:t>
            </a:r>
            <a:r>
              <a:rPr lang="en-US" dirty="0"/>
              <a:t>, Logistic Regression is ideal when minimizing false negatives is the primary business goal (83% Recall).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8914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C1E66-8E08-72C4-A86E-259D3926EC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37A332-390A-5936-D29E-DD6CC3DEBC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754071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1065</Words>
  <Application>Microsoft Office PowerPoint</Application>
  <PresentationFormat>Widescreen</PresentationFormat>
  <Paragraphs>94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-apple-system</vt:lpstr>
      <vt:lpstr>Arial</vt:lpstr>
      <vt:lpstr>Calibri</vt:lpstr>
      <vt:lpstr>Calibri Light</vt:lpstr>
      <vt:lpstr>-webkit-standard</vt:lpstr>
      <vt:lpstr>Office Theme</vt:lpstr>
      <vt:lpstr>Machine learning project 2</vt:lpstr>
      <vt:lpstr>Dataset Overview </vt:lpstr>
      <vt:lpstr>Data Challenges</vt:lpstr>
      <vt:lpstr>EDA: Class Distribution</vt:lpstr>
      <vt:lpstr>EDA: Financial Patterns</vt:lpstr>
      <vt:lpstr>EDA: Behavioral &amp; Demographic Patterns</vt:lpstr>
      <vt:lpstr>Feature Engineering Strategy</vt:lpstr>
      <vt:lpstr>Correlation &amp; Insights</vt:lpstr>
      <vt:lpstr>Class Imbalance</vt:lpstr>
      <vt:lpstr>Class Imbalance</vt:lpstr>
      <vt:lpstr>Modelling</vt:lpstr>
      <vt:lpstr>Modelling</vt:lpstr>
      <vt:lpstr>Modelling</vt:lpstr>
      <vt:lpstr>Modelling</vt:lpstr>
      <vt:lpstr>Hyperparameter Tuning</vt:lpstr>
      <vt:lpstr>Hyperparameter Tuning</vt:lpstr>
      <vt:lpstr>Hyperparameter Tuning</vt:lpstr>
      <vt:lpstr>Evaluation</vt:lpstr>
      <vt:lpstr>Evaluation</vt:lpstr>
      <vt:lpstr>Evaluation</vt:lpstr>
      <vt:lpstr>Conclusion</vt:lpstr>
      <vt:lpstr>Thank you!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project 2</dc:title>
  <dc:creator>ahmed haytham</dc:creator>
  <cp:lastModifiedBy>anthony shady</cp:lastModifiedBy>
  <cp:revision>2</cp:revision>
  <dcterms:created xsi:type="dcterms:W3CDTF">2025-12-03T17:28:52Z</dcterms:created>
  <dcterms:modified xsi:type="dcterms:W3CDTF">2025-12-03T20:00:13Z</dcterms:modified>
</cp:coreProperties>
</file>